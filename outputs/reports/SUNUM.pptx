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Kare dağılımı</c:v>
                </c:pt>
              </c:strCache>
            </c:strRef>
          </c:tx>
          <c:dPt>
            <c:idx val="0"/>
            <c:spPr>
              <a:solidFill>
                <a:srgbClr val="1C7293"/>
              </a:solidFill>
            </c:spPr>
          </c:dPt>
          <c:dPt>
            <c:idx val="1"/>
            <c:spPr>
              <a:solidFill>
                <a:srgbClr val="D6E4F0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B254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Bulutlu</c:v>
                </c:pt>
                <c:pt idx="1">
                  <c:v>Kullanılabilir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56.15</c:v>
                </c:pt>
                <c:pt idx="1">
                  <c:v>43.85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2C3E50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CLOUD F1 / Dice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Sheet1!$A$2:$A$5</c:f>
              <c:strCache>
                <c:ptCount val="4"/>
                <c:pt idx="0">
                  <c:v>Sen2Cor*</c:v>
                </c:pt>
                <c:pt idx="1">
                  <c:v>Fmask*</c:v>
                </c:pt>
                <c:pt idx="2">
                  <c:v>Bizim U-Net</c:v>
                </c:pt>
                <c:pt idx="3">
                  <c:v>İki anotatör arası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0.4698</c:v>
                </c:pt>
                <c:pt idx="1">
                  <c:v>0.5713</c:v>
                </c:pt>
                <c:pt idx="2">
                  <c:v>0.9392</c:v>
                </c:pt>
                <c:pt idx="3">
                  <c:v>0.9597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 (kuantizasyon sonrası)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Sheet1!$A$2:$A$3</c:f>
              <c:strCache>
                <c:ptCount val="2"/>
                <c:pt idx="0">
                  <c:v>MobileNetV3</c:v>
                </c:pt>
                <c:pt idx="1">
                  <c:v>MobileNetV2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0.3333</c:v>
                </c:pt>
                <c:pt idx="1">
                  <c:v>0.9347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Toplam bellek (MB)</c:v>
                </c:pt>
              </c:strCache>
            </c:strRef>
          </c:tx>
          <c:spPr>
            <a:solidFill>
              <a:srgbClr val="1C7293"/>
            </a:solidFill>
          </c:spPr>
          <c:cat>
            <c:strRef>
              <c:f>Sheet1!$A$2:$A$4</c:f>
              <c:strCache>
                <c:ptCount val="3"/>
                <c:pt idx="0">
                  <c:v>256×256</c:v>
                </c:pt>
                <c:pt idx="1">
                  <c:v>128×128</c:v>
                </c:pt>
                <c:pt idx="2">
                  <c:v>64×64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26.47</c:v>
                </c:pt>
                <c:pt idx="1">
                  <c:v>17.82</c:v>
                </c:pt>
                <c:pt idx="2">
                  <c:v>14.87</c:v>
                </c:pt>
              </c:numCache>
            </c:numRef>
          </c:val>
        </c:ser>
        <c:dLbls>
          <c:numFmt formatCode="0.0&quot; MB&quot;" sourceLinked="0"/>
          <c:txPr>
            <a:bodyPr/>
            <a:lstStyle/>
            <a:p>
              <a:pPr>
                <a:defRPr sz="1100" b="1">
                  <a:solidFill>
                    <a:srgbClr val="2C3E5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C3E5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90A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45720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STAJ PROJESİ  ·  UÇTA YAPAY ZEKÂ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7680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Uydu Üzerinde Bulutlu Görüntülerin Filtrelenmesi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6E4F0"/>
                </a:solidFill>
                <a:latin typeface="Calibri"/>
              </a:rPr>
              <a:t>Veri indirme bandının hafif bir yapay zekâ modeliyle optimizasyonu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9728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DA9C4"/>
                </a:solidFill>
                <a:latin typeface="Calibri"/>
              </a:rPr>
              <a:t>Referans misyon: ESA Φ-sat-1 / CloudScout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Yer gözlem uydularının sorunu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0350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Çekilen görüntülerin büyük bölümü bulutlarla kaplı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Bu görüntüler bilimsel olarak kullanılamaz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Yine de sınırlı haberleşme bandını harcayarak yere indiriliyor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C3E50"/>
                </a:solidFill>
                <a:latin typeface="Calibri"/>
              </a:rPr>
              <a:t>• Bant genişliği uydudaki en kıt kaynaklardan biri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B2545"/>
                </a:solidFill>
                <a:latin typeface="Cambria"/>
              </a:rPr>
              <a:t>Çözüm: filtreyi uyduya taşımak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Bulutlu görüntüyü çekildiği yerde tespit edip elemek — indirilmeden önce.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4572000" cy="3840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69480" y="1828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Test setindeki gerçek dağılım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269480" y="2194560"/>
          <a:ext cx="41148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REFERANS MISYON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ESA Φ-sat-1 / CloudScout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Yörüngede derin öğrenme çalıştıran ilk gösterim misyonu (Eylül 2020, 6U CubeSat).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2.1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model boyutu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98064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%92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4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doğruluk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47488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325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sahne başına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296912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1.8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güç bütçesi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46336" y="2240280"/>
            <a:ext cx="2057400" cy="15544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46336" y="2450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1C7293"/>
                </a:solidFill>
                <a:latin typeface="Cambria"/>
              </a:rPr>
              <a:t>~%30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31272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B7D"/>
                </a:solidFill>
                <a:latin typeface="Calibri"/>
              </a:rPr>
              <a:t>bant tasarrufu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Karşılaştırma uyarısı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CloudScout ile doğrudan sayı karşılaştırması geçerli değildir: farklı veri seti, farklı görev eşiği (%70), farklı donanım sınıfı (1.8 W uzay VPU'su vs masaüstü CPU). Bu değerler bağlam sağlar, ölçüt değildir.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VERI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Veri setleri ve bölümleme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Sentinel-2 Cloud Mask Catalogue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513 alt-sahne · 1022×1022 · 13 bant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Piksel bazlı maskeler (CLEAR / CLOUD / SHADOW)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8.208 kare (256×256), 6 bant kullanıldı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SPARCS (Landsat-8) — harici doğrulama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12848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78 sahne · 1.248 kare · farklı uydu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Eğitimde hiç kullanılmadı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Bant eşlemesi dalga boyu bazında yapıldı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11064240" cy="1874519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mbria"/>
              </a:rPr>
              <a:t>Kritik tasarım kararı: sahne bazlı bölümleme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Aynı sahnenin kareleri birbirine çok benzer — kare bazlı bölmek test setine sızıntı yaratır ve doğruluğu yapay olarak yükseltir. Test bölümü, veri setinin önerisiyle iki anotatörün bağımsız etiketlediği 60 sahneden oluşturuldu; böylece model başarımı insan seviyesiyle karşılaştırılabilir hâle geldi.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YÖNTEM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İşlem hattı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Veri hazırlama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Sahneler karelere bölünür,
maskeden etiket türetilir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1188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Model eğitimi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MobileNetV2 sınıflandırıcı
+ hafif U-Net (GPU)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Küçültme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ONNX dönüşümü,
INT8 kuantizasyon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783080"/>
            <a:ext cx="2606040" cy="29260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281160" y="201168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13969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Ölçüm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15468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A6B7D"/>
                </a:solidFill>
                <a:latin typeface="Calibri"/>
              </a:rPr>
              <a:t>CPU süresi, boyut,
bellek, fayda analizi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Kısıtlar yazılımsal olarak simüle edildi: model birkaç MB'ı, CPU çıkarım süresi belirlenen bütçeyi aşmamalı. Hedef donanım üzerinde çalıştırma kapsam dışı.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SONUÇLAR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Sonuçlar: iki model, iki görev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288036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İkili sınıflandırıcı  ·  temel hedef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9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7D"/>
                </a:solidFill>
                <a:latin typeface="Calibri"/>
              </a:rPr>
              <a:t>MobileNetV2 · 256×256 · INT8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%95.5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doğruluk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0.9883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2.59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boyut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5.76 ms/kare · CPU, tek iş parçacığı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90A0"/>
                </a:solidFill>
                <a:latin typeface="Calibri"/>
              </a:rPr>
              <a:t>Karar eşiği doğrulama setinde, yüksek precision kısıtıyla seçildi.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5394960" cy="288036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C7293"/>
                </a:solidFill>
                <a:latin typeface="Calibri"/>
              </a:rPr>
              <a:t>U-Net segmentasyon  ·  genişletilmiş hedef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396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B7D"/>
                </a:solidFill>
                <a:latin typeface="Calibri"/>
              </a:rPr>
              <a:t>MobileNetV2 encoder · 64×64 · INT8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0.8807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IoU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0.9392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Dice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56032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0B2545"/>
                </a:solidFill>
                <a:latin typeface="Cambria"/>
              </a:rPr>
              <a:t>0.96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7238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7D"/>
                </a:solidFill>
                <a:latin typeface="Calibri"/>
              </a:rPr>
              <a:t>boyut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0.69 ms/kare · piksel bazlı bulut maskesi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090A0"/>
                </a:solidFill>
                <a:latin typeface="Calibri"/>
              </a:rPr>
              <a:t>Maskeden görüntü-seviyesi karar da türetilebiliyor (%94.8).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Her iki model de boyut ve süre kısıtlarının içinde — hedeflerin sırasıyla %52 ve %6'sı.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DOĞRULAMA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Model nereye konumlanıyor?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Veri setinin 60 test sahnesini iki anotatör bağımsız etiketledi. Aradaki uyum, görevin doğal belirsizlik tavanını verir — ve karşılaştırılabilir tek ölçüttür.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377440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2377440"/>
            <a:ext cx="3749039" cy="32004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92440" y="288036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mbria"/>
              </a:rPr>
              <a:t>2.05 puan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6393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insan uyumuna olan fark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Görevin kendisinde iki uzman arasında %4'lük bir belirsizlik var. Model bu bandın hemen dışında duruyor.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8090A0"/>
                </a:solidFill>
                <a:latin typeface="Calibri"/>
              </a:rPr>
              <a:t>* Sen2Cor ve Fmask değerleri farklı veri setlerinden alınmıştır; doğrudan karşılaştırılamaz, yalnızca büyüklük mertebesi için verilmiştir.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FAYDA ANALİZİ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Bu filtre uyduda çalışsaydı ne kazanırdık?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5A623"/>
                </a:solidFill>
                <a:latin typeface="Cambria"/>
              </a:rPr>
              <a:t>%48.65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90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  <a:latin typeface="Calibri"/>
              </a:rPr>
              <a:t>indirilen veri hacminde azalma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381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DA9C4"/>
                </a:solidFill>
                <a:latin typeface="Calibri"/>
              </a:rPr>
              <a:t>teorik üst sınırın %87'si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mbria"/>
              </a:rPr>
              <a:t>%0.475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90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D6E4F0"/>
                </a:solidFill>
                <a:latin typeface="Calibri"/>
              </a:rPr>
              <a:t>kaybedilen kullanılabilir veri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438144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8DA9C4"/>
                </a:solidFill>
                <a:latin typeface="Calibri"/>
              </a:rPr>
              <a:t>421 temiz görüntüden 2'si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Neden bu ikisi birlikte önemli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45152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• Yanlış eleme = geri dönüşü olmayan bilimsel veri kaybı; boşuna indirme = yalnızca bant genişliği israfı.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D6E4F0"/>
                </a:solidFill>
                <a:latin typeface="Calibri"/>
              </a:rPr>
              <a:t>• İkisi eşdeğer maliyet değildir — bu yüzden karar eşiği F1'i değil, yüksek precision'ı hedefleyecek şekilde seçildi.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ÇALIŞMA NOKTALARI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Eşik bir model parametresi değil, politika kararı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Model tek bir eşiğe kilitlenmedi. Her biri ölçülmüş dört çalışma noktası, modelle birlikte teslim ediliyor.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402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377440"/>
                <a:gridCol w="2377440"/>
                <a:gridCol w="237744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Çalışma noktası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Veri azalması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Veri kaybı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Farklı sensörde kayıp</a:t>
                      </a:r>
                    </a:p>
                  </a:txBody>
                  <a:tcPr anchor="ctr" marL="10972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Dengeli (en iyi F1)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%56.15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%5.23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%29.08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Standart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%54.48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%3.09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%19.98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Muhafazakâr (p ≥ 0.99)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%51.15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%1.19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Calibri"/>
                        </a:rPr>
                        <a:t>%12.34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Önerilen (p ≥ 0.995)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%48.65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%0.48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545"/>
                          </a:solidFill>
                          <a:latin typeface="Calibri"/>
                        </a:rPr>
                        <a:t>%7.95</a:t>
                      </a:r>
                    </a:p>
                  </a:txBody>
                  <a:tcPr anchor="ctr" marL="109728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0B2545"/>
                </a:solidFill>
                <a:latin typeface="Calibri"/>
              </a:rPr>
              <a:t>Bant genişliği kazancından 7.5 puan vazgeçerek veri kaybı 11 kat azalıyor. Hangi noktanın seçileceği misyon önceliğine bağlıdır ve yerden güncellenebilir.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MODEL KÜÇÜLTME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INT8 kuantizasyon: bir başarısızlık ve kök neden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7D"/>
                </a:solidFill>
                <a:latin typeface="Calibri"/>
              </a:rPr>
              <a:t>İlk denemede MobileNetV3 kuantizasyonu modeli çökertti. Sebep sistematik eleme ile arandı.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240280"/>
          <a:ext cx="54864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2240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Elenen açıklamalar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70048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7 farklı kuantizasyon yapılandırması — hiçbiri kurtarmadı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Op tipi izolasyonu — sorun SE/hard-swish'te değil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Katman bazlı tarama — tek suçlu katman yok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Ağırlık aralığı hipotezi — ölçüldü ve elendi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Çözüm: MobileNetV2 omurgası. Aynı yapılandırmalarla sorunsuz kuantize oluyor, doğruluk kaybı %1.4. Ayrıca ölçüldü: per-channel kuantizasyon zorunlu, aktivasyonlarda QUInt8 x86'da 2.4 kat hızlı.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OPTIMIZASYON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Bellek: diskteki boyut yanıltıcı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3736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6B7D"/>
                </a:solidFill>
                <a:latin typeface="Calibri"/>
              </a:rPr>
              <a:t>U-Net kareleme boyutuna göre bellek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Cambria"/>
              </a:rPr>
              <a:t>Üç bulgu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12848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Modeli 2.5 kat küçültmek belleği yalnızca %3 azalttı — bellek aktivasyonlardan geliyor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Kareleme belleği %44 düşürdü; doğruluk maliyeti IoU'da 0.004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Bağlam kaybı korkusu ölçümle çürüdü: bulut tespiti yerel bir görev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519379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B2545"/>
                </a:solidFill>
                <a:latin typeface="Calibri"/>
              </a:rPr>
              <a:t>Kalan darboğaz modelde değil çalışma zamanında: 27.78 MB'ın ~10.5 MB'ı ONNX Runtime'ın taban ayak izi. Gömülü bir motor (TFLite Micro çekirdeği ~16 KB) bu payı kaldırırdı.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DÜRÜST DEĞERLENDIRME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Nerede başarısız oluyoruz?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02996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99339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Kar / buz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9572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Kar ve bulut spektral olarak benzer. Farklı sensörde temiz kar karelerinin %29.9'u yanlışlıkla eleniyor.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92240" y="202996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99339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Zorluk-5 sahneler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39572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F1 0.72 — ama anotatörlerin kendisi de emin değil. Hata kısmen etiket belirsizliği.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2959" y="390448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86791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İnce bulut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27024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Recall 0.864 (kalın bulutta 0.947). İnce cirrus en zayıf nokta.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79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92240" y="3904487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67911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mbria"/>
              </a:rPr>
              <a:t>Farklı sensör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270248"/>
            <a:ext cx="4434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B7D"/>
                </a:solidFill>
                <a:latin typeface="Calibri"/>
              </a:rPr>
              <a:t>SPARCS'ta F1 0.82. Ölçülen radyometrik kayma (~2 kat) sonucun bir kısmını açıklıyor.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A6B7D"/>
                </a:solidFill>
                <a:latin typeface="Calibri"/>
              </a:rPr>
              <a:t>Bu kırılımlar veri setinin kendi etiketleriyle ölçüldü — başarısızlık modları tahmin değil, sayı.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alibri"/>
              </a:rPr>
              <a:t>DENEYLER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Cambria"/>
              </a:rPr>
              <a:t>Ne işe yaradı, ne yaramadı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DCE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Cambria"/>
              </a:rPr>
              <a:t>Kazanç sağlayanlar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Hiperparametre taraması — öğrenme oranı varsayılanı optimumun dörtte biriymiş (AUC 0.9813 → 0.9884)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U-Net encoder'ını küçültmek — hem 2.5 kat küçük hem daha doğru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Kareleme — bellek %44 az, veri kaybı yarı yarıya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Eşiği belirsiz bantta seçmek — veri kaybı 25 kat azaldı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BF3F2"/>
          </a:solidFill>
          <a:ln w="12700">
            <a:solidFill>
              <a:srgbClr val="F0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85042"/>
                </a:solidFill>
                <a:latin typeface="Cambria"/>
              </a:rPr>
              <a:t>Sağlamayanlar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95728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Bant sayısını artırmak — 6 &gt; 9 &gt; 13, tekdüze kötüleşti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Bilgi damıtma — öğretmen öğrenciden zayıf çıktı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Şekil öznitelikleri (kontur doluluğu) — dört ayrı yapılandırmada sıfır katkı</a:t>
            </a:r>
          </a:p>
          <a:p>
            <a:pPr algn="l">
              <a:spcAft>
                <a:spcPts val="11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Sınıflandırıcıda ince kareleme — farklı sensöre hiç genellemedi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91840"/>
            <a:ext cx="5852160" cy="5852160"/>
          </a:xfrm>
          <a:prstGeom prst="ellipse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SONUÇ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Uydu üzerinde çalışabilecek bir bulut filtresi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0.96 – 2.59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iki model, INT8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2043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0.69 – 5.76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kare başına,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59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%48.65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veri tasarrufu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057400"/>
            <a:ext cx="2560320" cy="141732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98280" y="23317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5A623"/>
                </a:solidFill>
                <a:latin typeface="Cambria"/>
              </a:rPr>
              <a:t>%0.475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9077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6E4F0"/>
                </a:solidFill>
                <a:latin typeface="Calibri"/>
              </a:rPr>
              <a:t>veri kaybı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mbria"/>
              </a:rPr>
              <a:t>Gelecek çalışma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Gömülü çıkarım motoru — belleğin %72'si çalışma zamanı yükü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Kar/buz ayrımı için hedefli veri artırımı veya kayıp ağırlığı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Kısmi indirme: maskeyle görüntünün yalnızca temiz bölgelerini indirmek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E4F0"/>
                </a:solidFill>
                <a:latin typeface="Calibri"/>
              </a:rPr>
              <a:t>• Kuantizasyon-farkında eğitim (QAT) ve çok tohumlu doğrulama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