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1" r:id="rId22"/>
    <p:sldId id="272" r:id="rId23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Kare dağılımı</c:v>
                </c:pt>
              </c:strCache>
            </c:strRef>
          </c:tx>
          <c:dPt>
            <c:idx val="0"/>
            <c:spPr>
              <a:solidFill>
                <a:srgbClr val="1C7293"/>
              </a:solidFill>
            </c:spPr>
          </c:dPt>
          <c:dPt>
            <c:idx val="1"/>
            <c:spPr>
              <a:solidFill>
                <a:srgbClr val="D6E4F0"/>
              </a:solidFill>
            </c:spPr>
          </c:dPt>
          <c:dLbls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0B2545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Bulutlu</c:v>
                </c:pt>
                <c:pt idx="1">
                  <c:v>Kullanılabilir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56.15</c:v>
                </c:pt>
                <c:pt idx="1">
                  <c:v>43.85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100">
              <a:solidFill>
                <a:srgbClr val="2C3E50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CLOUD F1 / Dice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Sheet1!$A$2:$A$5</c:f>
              <c:strCache>
                <c:ptCount val="4"/>
                <c:pt idx="0">
                  <c:v>Sen2Cor*</c:v>
                </c:pt>
                <c:pt idx="1">
                  <c:v>Fmask*</c:v>
                </c:pt>
                <c:pt idx="2">
                  <c:v>Bizim U-Net</c:v>
                </c:pt>
                <c:pt idx="3">
                  <c:v>İki anotatör arası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0.4698</c:v>
                </c:pt>
                <c:pt idx="1">
                  <c:v>0.5713</c:v>
                </c:pt>
                <c:pt idx="2">
                  <c:v>0.9392</c:v>
                </c:pt>
                <c:pt idx="3">
                  <c:v>0.9597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solidFill>
                    <a:srgbClr val="2C3E5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C3E5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8090A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 (kuantizasyon sonrası)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Sheet1!$A$2:$A$3</c:f>
              <c:strCache>
                <c:ptCount val="2"/>
                <c:pt idx="0">
                  <c:v>MobileNetV3</c:v>
                </c:pt>
                <c:pt idx="1">
                  <c:v>MobileNetV2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0.3333</c:v>
                </c:pt>
                <c:pt idx="1">
                  <c:v>0.9347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 b="1">
                  <a:solidFill>
                    <a:srgbClr val="2C3E5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2C3E5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8090A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Toplam bellek (MB)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Sheet1!$A$2:$A$4</c:f>
              <c:strCache>
                <c:ptCount val="3"/>
                <c:pt idx="0">
                  <c:v>256×256</c:v>
                </c:pt>
                <c:pt idx="1">
                  <c:v>128×128</c:v>
                </c:pt>
                <c:pt idx="2">
                  <c:v>64×64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26.47</c:v>
                </c:pt>
                <c:pt idx="1">
                  <c:v>17.82</c:v>
                </c:pt>
                <c:pt idx="2">
                  <c:v>14.87</c:v>
                </c:pt>
              </c:numCache>
            </c:numRef>
          </c:val>
        </c:ser>
        <c:dLbls>
          <c:numFmt formatCode="0.0&quot; MB&quot;" sourceLinked="0"/>
          <c:txPr>
            <a:bodyPr/>
            <a:lstStyle/>
            <a:p>
              <a:pPr>
                <a:defRPr sz="1100" b="1">
                  <a:solidFill>
                    <a:srgbClr val="2C3E50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solidFill>
                  <a:srgbClr val="2C3E5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8090A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solidFill>
            <a:srgbClr val="13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457200"/>
            <a:ext cx="3108960" cy="3108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STAJ PROJESİ  ·  UÇTA YAPAY ZEKÂ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7680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mbria"/>
              </a:rPr>
              <a:t>Uydu Üzerinde Bulutlu Görüntülerin Filtrelenmesi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D6E4F0"/>
                </a:solidFill>
                <a:latin typeface="Calibri"/>
              </a:rPr>
              <a:t>Veri indirme bandının hafif bir yapay zekâ modeliyle optimizasyonu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1097280" cy="3657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8DA9C4"/>
                </a:solidFill>
                <a:latin typeface="Calibri"/>
              </a:rPr>
              <a:t>Referans misyon: ESA Φ-sat-1 / CloudScout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Yer gözlem uydularının sorunu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60350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C3E50"/>
                </a:solidFill>
                <a:latin typeface="Calibri"/>
              </a:rPr>
              <a:t>• Çekilen görüntülerin büyük bölümü bulutlarla kaplı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C3E50"/>
                </a:solidFill>
                <a:latin typeface="Calibri"/>
              </a:rPr>
              <a:t>• Bu görüntüler bilimsel olarak kullanılamaz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C3E50"/>
                </a:solidFill>
                <a:latin typeface="Calibri"/>
              </a:rPr>
              <a:t>• Yine de sınırlı haberleşme bandını harcayarak yere indiriliyor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2C3E50"/>
                </a:solidFill>
                <a:latin typeface="Calibri"/>
              </a:rPr>
              <a:t>• Bant genişliği uydudaki en kıt kaynaklardan biri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77639"/>
            <a:ext cx="6035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2545"/>
                </a:solidFill>
                <a:latin typeface="Cambria"/>
              </a:rPr>
              <a:t>Çözüm: filtreyi uyduya taşımak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8056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A6B7D"/>
                </a:solidFill>
                <a:latin typeface="Calibri"/>
              </a:rPr>
              <a:t>Bulutlu görüntüyü çekildiği yerde tespit edip elemek — indirilmeden önce.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645920"/>
            <a:ext cx="4572000" cy="38404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269480" y="18288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B2545"/>
                </a:solidFill>
                <a:latin typeface="Calibri"/>
              </a:rPr>
              <a:t>Test setindeki gerçek dağılım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269480" y="2194560"/>
          <a:ext cx="411480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REFERANS MISYON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ESA Φ-sat-1 / CloudScout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A6B7D"/>
                </a:solidFill>
                <a:latin typeface="Calibri"/>
              </a:rPr>
              <a:t>Yörüngede derin öğrenme çalıştıran ilk gösterim misyonu (Eylül 2020, 6U CubeSat).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2057400" cy="15544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245059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C7293"/>
                </a:solidFill>
                <a:latin typeface="Cambria"/>
              </a:rPr>
              <a:t>2.1 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272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7D"/>
                </a:solidFill>
                <a:latin typeface="Calibri"/>
              </a:rPr>
              <a:t>model boyutu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8064" y="2240280"/>
            <a:ext cx="2057400" cy="15544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798064" y="245059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C7293"/>
                </a:solidFill>
                <a:latin typeface="Cambria"/>
              </a:rPr>
              <a:t>%92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8064" y="31272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7D"/>
                </a:solidFill>
                <a:latin typeface="Calibri"/>
              </a:rPr>
              <a:t>doğruluk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7488" y="2240280"/>
            <a:ext cx="2057400" cy="15544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47488" y="245059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C7293"/>
                </a:solidFill>
                <a:latin typeface="Cambria"/>
              </a:rPr>
              <a:t>325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31272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7D"/>
                </a:solidFill>
                <a:latin typeface="Calibri"/>
              </a:rPr>
              <a:t>sahne başına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6912" y="2240280"/>
            <a:ext cx="2057400" cy="15544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96912" y="245059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C7293"/>
                </a:solidFill>
                <a:latin typeface="Cambria"/>
              </a:rPr>
              <a:t>1.8 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912" y="31272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7D"/>
                </a:solidFill>
                <a:latin typeface="Calibri"/>
              </a:rPr>
              <a:t>güç bütçesi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2240280"/>
            <a:ext cx="2057400" cy="15544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46336" y="245059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1C7293"/>
                </a:solidFill>
                <a:latin typeface="Cambria"/>
              </a:rPr>
              <a:t>~%30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6336" y="3127248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7D"/>
                </a:solidFill>
                <a:latin typeface="Calibri"/>
              </a:rPr>
              <a:t>bant tasarrufu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60520"/>
            <a:ext cx="11064240" cy="169164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3891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mbria"/>
              </a:rPr>
              <a:t>Karşılaştırma uyarısı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CloudScout ile doğrudan sayı karşılaştırması geçerli değildir: farklı veri seti, farklı görev eşiği (%70), farklı donanım sınıfı (1.8 W uzay VPU'su vs masaüstü CPU). Bu değerler bağlam sağlar, ölçüt değildir.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VERI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Veri setleri ve bölümleme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214884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Sentinel-2 Cloud Mask Catalogue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513 alt-sahne · 1022×1022 · 13 bant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Piksel bazlı maskeler (CLEAR / CLOUD / SHADOW)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8.208 kare (256×256), 6 bant kullanıldı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394960" cy="214884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0" y="181051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SPARCS (Landsat-8) — harici doğrulama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1284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78 sahne · 1.248 kare · farklı uydu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Eğitimde hiç kullanılmadı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Bant eşlemesi dalga boyu bazında yapıldı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77639"/>
            <a:ext cx="11064240" cy="1874519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A623"/>
                </a:solidFill>
                <a:latin typeface="Cambria"/>
              </a:rPr>
              <a:t>Kritik tasarım kararı: sahne bazlı bölümleme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7200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Aynı sahnenin kareleri birbirine çok benzer — kare bazlı bölmek test setine sızıntı yaratır ve doğruluğu yapay olarak yükseltir. Test bölümü, veri setinin önerisiyle iki anotatörün bağımsız etiketlediği 60 sahneden oluşturuldu; böylece model başarımı insan seviyesiyle karşılaştırılabilir hâle geldi.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YÖNTEM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İşlem hattı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Veri hazırlama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5468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B7D"/>
                </a:solidFill>
                <a:latin typeface="Calibri"/>
              </a:rPr>
              <a:t>Sahneler karelere bölünür,
maskeden etiket türetilir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783080"/>
            <a:ext cx="2606040" cy="29260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611880" y="2011680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139696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7432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Model eğitimi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15468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B7D"/>
                </a:solidFill>
                <a:latin typeface="Calibri"/>
              </a:rPr>
              <a:t>MobileNetV2 sınıflandırıcı
+ hafif U-Net (GPU)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2606040" cy="29260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46520" y="2011680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139696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Küçültme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5468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B7D"/>
                </a:solidFill>
                <a:latin typeface="Calibri"/>
              </a:rPr>
              <a:t>ONNX dönüşümü,
INT8 kuantizasyon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1783080"/>
            <a:ext cx="2606040" cy="29260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281160" y="2011680"/>
            <a:ext cx="566928" cy="56692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2139696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7432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Ölçüm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15468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B7D"/>
                </a:solidFill>
                <a:latin typeface="Calibri"/>
              </a:rPr>
              <a:t>CPU süresi, boyut,
bellek, fayda analizi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B7D"/>
                </a:solidFill>
                <a:latin typeface="Calibri"/>
              </a:rPr>
              <a:t>Kısıtlar yazılımsal olarak simüle edildi: model birkaç MB'ı, CPU çıkarım süresi belirlenen bütçeyi aşmamalı. Hedef donanım üzerinde çalıştırma kapsam dışı.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SONUÇLAR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Sonuçlar: iki model, iki görev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288036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İkili sınıflandırıcı  ·  temel hedef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3969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6B7D"/>
                </a:solidFill>
                <a:latin typeface="Calibri"/>
              </a:rPr>
              <a:t>MobileNetV2 · 256×256 · INT8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2545"/>
                </a:solidFill>
                <a:latin typeface="Cambria"/>
              </a:rPr>
              <a:t>%95.5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723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doğruluk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560320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2545"/>
                </a:solidFill>
                <a:latin typeface="Cambria"/>
              </a:rPr>
              <a:t>0.9883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30723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560320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2545"/>
                </a:solidFill>
                <a:latin typeface="Cambria"/>
              </a:rPr>
              <a:t>2.59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0723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boyut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5.76 ms/kare · CPU, tek iş parçacığı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090A0"/>
                </a:solidFill>
                <a:latin typeface="Calibri"/>
              </a:rPr>
              <a:t>Karar eşiği doğrulama setinde, yüksek precision kısıtıyla seçildi.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00200"/>
            <a:ext cx="5394960" cy="288036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181051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U-Net segmentasyon  ·  genişletilmiş hedef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3969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6B7D"/>
                </a:solidFill>
                <a:latin typeface="Calibri"/>
              </a:rPr>
              <a:t>MobileNetV2 encoder · 64×64 · INT8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2545"/>
                </a:solidFill>
                <a:latin typeface="Cambria"/>
              </a:rPr>
              <a:t>0.8807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723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IoU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560320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2545"/>
                </a:solidFill>
                <a:latin typeface="Cambria"/>
              </a:rPr>
              <a:t>0.9366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0723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Dice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560320"/>
            <a:ext cx="1508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2545"/>
                </a:solidFill>
                <a:latin typeface="Cambria"/>
              </a:rPr>
              <a:t>0.96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07238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5A6B7D"/>
                </a:solidFill>
                <a:latin typeface="Calibri"/>
              </a:rPr>
              <a:t>boyut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2C3E50"/>
                </a:solidFill>
                <a:latin typeface="Calibri"/>
              </a:rPr>
              <a:t>0.69 ms/kare · piksel bazlı bulut maskesi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090A0"/>
                </a:solidFill>
                <a:latin typeface="Calibri"/>
              </a:rPr>
              <a:t>Maskeden görüntü-seviyesi karar da türetilebiliyor (%94.8).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709160"/>
            <a:ext cx="11064240" cy="11430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68680" y="507492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Her iki model de boyut ve süre kısıtlarının içinde — hedeflerin sırasıyla %52 ve %6'sı.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DOĞRULAMA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Model nereye konumlanıyor?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A6B7D"/>
                </a:solidFill>
                <a:latin typeface="Calibri"/>
              </a:rPr>
              <a:t>Veri setinin 60 test sahnesini iki anotatör bağımsız etiketledi. Aradaki uyum, görevin doğal belirsizlik tavanını verir — ve karşılaştırılabilir tek ölçüttür.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377440"/>
          <a:ext cx="694944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63840" y="2377440"/>
            <a:ext cx="3749039" cy="320040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92440" y="28803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F5A623"/>
                </a:solidFill>
                <a:latin typeface="Cambria"/>
              </a:rPr>
              <a:t>2.31 puan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3639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A6B7D"/>
                </a:solidFill>
                <a:latin typeface="Calibri"/>
              </a:rPr>
              <a:t>insan uyumuna olan fark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20624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Görevin kendisinde iki uzman arasında %4'lük bir belirsizlik var. Model bu bandın hemen dışında duruyor.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8090A0"/>
                </a:solidFill>
                <a:latin typeface="Calibri"/>
              </a:rPr>
              <a:t>* Sen2Cor ve Fmask değerleri farklı veri setlerinden alınmıştır; doğrudan karşılaştırılamaz, yalnızca büyüklük mertebesi için verilmiştir.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FAYDA ANALİZİ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Bu filtre uyduda çalışsaydı ne kazanırdık?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394960" cy="2011680"/>
          </a:xfrm>
          <a:prstGeom prst="roundRect">
            <a:avLst>
              <a:gd name="adj" fmla="val 4000"/>
            </a:avLst>
          </a:prstGeom>
          <a:solidFill>
            <a:srgbClr val="13315C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F5A623"/>
                </a:solidFill>
                <a:latin typeface="Cambria"/>
              </a:rPr>
              <a:t>%48.65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906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D6E4F0"/>
                </a:solidFill>
                <a:latin typeface="Calibri"/>
              </a:rPr>
              <a:t>indirilen veri hacminde azalma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8DA9C4"/>
                </a:solidFill>
                <a:latin typeface="Calibri"/>
              </a:rPr>
              <a:t>teorik üst sınırın %87'si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94960" cy="2011680"/>
          </a:xfrm>
          <a:prstGeom prst="roundRect">
            <a:avLst>
              <a:gd name="adj" fmla="val 4000"/>
            </a:avLst>
          </a:prstGeom>
          <a:solidFill>
            <a:srgbClr val="13315C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%0.475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0906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D6E4F0"/>
                </a:solidFill>
                <a:latin typeface="Calibri"/>
              </a:rPr>
              <a:t>kaybedilen kullanılabilir veri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438144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8DA9C4"/>
                </a:solidFill>
                <a:latin typeface="Calibri"/>
              </a:rPr>
              <a:t>421 temiz görüntüden 2'si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mbria"/>
              </a:rPr>
              <a:t>Neden bu ikisi birlikte önemli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45152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D6E4F0"/>
                </a:solidFill>
                <a:latin typeface="Calibri"/>
              </a:rPr>
              <a:t>• Yanlış eleme = geri dönüşü olmayan bilimsel veri kaybı; boşuna indirme = yalnızca bant genişliği israfı.</a:t>
            </a:r>
          </a:p>
          <a:p>
            <a:pPr algn="l">
              <a:spcAft>
                <a:spcPts val="800"/>
              </a:spcAft>
            </a:pPr>
            <a:r>
              <a:rPr sz="1350" b="0" i="0">
                <a:solidFill>
                  <a:srgbClr val="D6E4F0"/>
                </a:solidFill>
                <a:latin typeface="Calibri"/>
              </a:rPr>
              <a:t>• İkisi eşdeğer maliyet değildir — bu yüzden karar eşiği F1'i değil, yüksek precision'ı hedefleyecek şekilde seçildi.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ÇALIŞMA NOKTALARI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Eşik bir model parametresi değil, politika kararı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A6B7D"/>
                </a:solidFill>
                <a:latin typeface="Calibri"/>
              </a:rPr>
              <a:t>Model tek bir eşiğe kilitlenmedi. Her biri ölçülmüş dört çalışma noktası, modelle birlikte teslim ediliyor.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4028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377440"/>
                <a:gridCol w="2377440"/>
                <a:gridCol w="2377440"/>
              </a:tblGrid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Çalışma noktası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Veri azalması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Veri kaybı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Farklı sensörde kayıp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Dengeli (en iyi F1)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%56.15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%5.23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%29.08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Standart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%54.48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%3.09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%19.98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Muhafazakâr (p ≥ 0.99)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%51.15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%1.19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%12.34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545"/>
                          </a:solidFill>
                          <a:latin typeface="Calibri"/>
                        </a:rPr>
                        <a:t>Önerilen (p ≥ 0.995)</a:t>
                      </a:r>
                    </a:p>
                  </a:txBody>
                  <a:tcPr anchor="ctr" marL="109728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545"/>
                          </a:solidFill>
                          <a:latin typeface="Calibri"/>
                        </a:rPr>
                        <a:t>%48.65</a:t>
                      </a:r>
                    </a:p>
                  </a:txBody>
                  <a:tcPr anchor="ctr" marL="109728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545"/>
                          </a:solidFill>
                          <a:latin typeface="Calibri"/>
                        </a:rPr>
                        <a:t>%0.48</a:t>
                      </a:r>
                    </a:p>
                  </a:txBody>
                  <a:tcPr anchor="ctr" marL="109728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545"/>
                          </a:solidFill>
                          <a:latin typeface="Calibri"/>
                        </a:rPr>
                        <a:t>%7.95</a:t>
                      </a:r>
                    </a:p>
                  </a:txBody>
                  <a:tcPr anchor="ctr" marL="109728"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493776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B2545"/>
                </a:solidFill>
                <a:latin typeface="Calibri"/>
              </a:rPr>
              <a:t>Bant genişliği kazancından 7.5 puan vazgeçerek veri kaybı 11 kat azalıyor. Hangi noktanın seçileceği misyon önceliğine bağlıdır ve yerden güncellenebilir.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MODEL KÜÇÜLTME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INT8 kuantizasyon: bir başarısızlık ve kök neden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A6B7D"/>
                </a:solidFill>
                <a:latin typeface="Calibri"/>
              </a:rPr>
              <a:t>İlk denemede MobileNetV3 kuantizasyonu modeli çökertti. Sebep sistematik eleme ile arandı.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240280"/>
          <a:ext cx="548640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240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Elenen açıklamalar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70048"/>
            <a:ext cx="5212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C3E50"/>
                </a:solidFill>
                <a:latin typeface="Calibri"/>
              </a:rPr>
              <a:t>• 7 farklı kuantizasyon yapılandırması — hiçbiri kurtarmadı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C3E50"/>
                </a:solidFill>
                <a:latin typeface="Calibri"/>
              </a:rPr>
              <a:t>• Op tipi izolasyonu — sorun SE/hard-swish'te değil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C3E50"/>
                </a:solidFill>
                <a:latin typeface="Calibri"/>
              </a:rPr>
              <a:t>• Katman bazlı tarama — tek suçlu katman yok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2C3E50"/>
                </a:solidFill>
                <a:latin typeface="Calibri"/>
              </a:rPr>
              <a:t>• Ağırlık aralığı hipotezi — ölçüldü ve elendi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11064240" cy="105156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6E4F0"/>
                </a:solidFill>
                <a:latin typeface="Calibri"/>
              </a:rPr>
              <a:t>Çözüm: MobileNetV2 omurgası. Aynı yapılandırmalarla sorunsuz kuantize oluyor, doğruluk kaybı %1.4. Ayrıca ölçüldü: per-channel kuantizasyon zorunlu, aktivasyonlarda QUInt8 x86'da 2.4 kat hızlı.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OPTIMIZASYON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Bellek: diskteki boyut yanıltıcı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737360"/>
          <a:ext cx="548640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6177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A6B7D"/>
                </a:solidFill>
                <a:latin typeface="Calibri"/>
              </a:rPr>
              <a:t>U-Net kareleme boyutuna göre bellek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Üç bulgu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12848"/>
            <a:ext cx="52120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C3E50"/>
                </a:solidFill>
                <a:latin typeface="Calibri"/>
              </a:rPr>
              <a:t>• Modeli 2.5 kat küçültmek belleği yalnızca %3 azalttı — bellek aktivasyonlardan geliyor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C3E50"/>
                </a:solidFill>
                <a:latin typeface="Calibri"/>
              </a:rPr>
              <a:t>• Kareleme belleği %44 düşürdü; doğruluk maliyeti IoU'da 0.004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C3E50"/>
                </a:solidFill>
                <a:latin typeface="Calibri"/>
              </a:rPr>
              <a:t>• Bağlam kaybı korkusu ölçümle çürüdü: bulut tespiti yerel bir görev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5193792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B2545"/>
                </a:solidFill>
                <a:latin typeface="Calibri"/>
              </a:rPr>
              <a:t>Kalan darboğaz modelde değil çalışma zamanında: 27.78 MB'ın ~10.5 MB'ı ONNX Runtime'ın taban ayak izi. Gömülü bir motor (TFLite Micro çekirdeği ~16 KB) bu payı kaldırırdı.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DÜRÜST DEĞERLENDIRME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Nerede başarısız oluyoruz?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394960" cy="16459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59" y="2029967"/>
            <a:ext cx="329184" cy="32918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1993391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Kar / buz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395728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B7D"/>
                </a:solidFill>
                <a:latin typeface="Calibri"/>
              </a:rPr>
              <a:t>Kar ve bulut spektral olarak benzer. Farklı sensörde temiz kar karelerinin %29.9'u yanlışlıkla eleniyor.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16459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92240" y="2029967"/>
            <a:ext cx="329184" cy="32918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1993391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Zorluk-5 sahneler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7728" y="2395728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B7D"/>
                </a:solidFill>
                <a:latin typeface="Calibri"/>
              </a:rPr>
              <a:t>F1 0.72 — ama anotatörlerin kendisi de emin değil. Hata kısmen etiket belirsizliği.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11879"/>
            <a:ext cx="5394960" cy="16459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2959" y="3904487"/>
            <a:ext cx="329184" cy="32918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867911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İnce bulut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270248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B7D"/>
                </a:solidFill>
                <a:latin typeface="Calibri"/>
              </a:rPr>
              <a:t>Recall 0.864 (kalın bulutta 0.947). İnce cirrus en zayıf nokta.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11879"/>
            <a:ext cx="5394960" cy="16459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492240" y="3904487"/>
            <a:ext cx="329184" cy="329184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7728" y="3867911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Farklı sensör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270248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B7D"/>
                </a:solidFill>
                <a:latin typeface="Calibri"/>
              </a:rPr>
              <a:t>SPARCS'ta F1 0.85. Radyometrik kayma ölçüldü ve elendi: düzeltme ROC-AUC'yi değiştirmiyor.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B7D"/>
                </a:solidFill>
                <a:latin typeface="Calibri"/>
              </a:rPr>
              <a:t>Bu kırılımlar veri setinin kendi etiketleriyle ölçüldü — başarısızlık modları tahmin değil, sayı.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HARİCİ DOĞRULAMA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U-Net farklı sensörde daha dayanıklı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A6B7D"/>
                </a:solidFill>
                <a:latin typeface="Calibri"/>
              </a:rPr>
              <a:t>Aynı harici veri seti (SPARCS · Landsat-8), aynı ölçütler. U-Net maskesinden görüntü kararı üretilerek iki model karşılaştırıldı.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4028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377440"/>
                <a:gridCol w="2377440"/>
                <a:gridCol w="2377440"/>
              </a:tblGrid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Ölçüt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Sınıflandırıcı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U-Net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0.9645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0.9733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U-Net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0.7438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0.8522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U-Net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Kaybedilen kullanılabilir veri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%19.98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%8.51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2.3× az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545"/>
                          </a:solidFill>
                          <a:latin typeface="Calibri"/>
                        </a:rPr>
                        <a:t>Kar/buz yanlış eleme</a:t>
                      </a:r>
                    </a:p>
                  </a:txBody>
                  <a:tcPr anchor="ctr" marL="109728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545"/>
                          </a:solidFill>
                          <a:latin typeface="Calibri"/>
                        </a:rPr>
                        <a:t>%58.62</a:t>
                      </a:r>
                    </a:p>
                  </a:txBody>
                  <a:tcPr anchor="ctr" marL="109728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545"/>
                          </a:solidFill>
                          <a:latin typeface="Calibri"/>
                        </a:rPr>
                        <a:t>%5.07</a:t>
                      </a:r>
                    </a:p>
                  </a:txBody>
                  <a:tcPr anchor="ctr" marL="109728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545"/>
                          </a:solidFill>
                          <a:latin typeface="Calibri"/>
                        </a:rPr>
                        <a:t>11.6× az</a:t>
                      </a:r>
                    </a:p>
                  </a:txBody>
                  <a:tcPr anchor="ctr" marL="109728"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493776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B2545"/>
                </a:solidFill>
                <a:latin typeface="Calibri"/>
              </a:rPr>
              <a:t>Fark karelemeden değil görev türünden geliyor: aynı 64×64 ızgarada eğitilen sınıflandırıcı kar/buzda %64.37 veriyor — 256×256'dan da kötü.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ÖLÇÜLEN NEGATİF SONUÇLAR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İki varsayım sınandı, ikisi de çürüdü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A6B7D"/>
                </a:solidFill>
                <a:latin typeface="Calibri"/>
              </a:rPr>
              <a:t>Rapordaki iki açıklama ölçülerek elendi. Elenen hipotezler, doğrulananlar kadar bilgilendiricidir.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4028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377440"/>
                <a:gridCol w="2377440"/>
                <a:gridCol w="2377440"/>
              </a:tblGrid>
              <a:tr h="42062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Varsayım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Beklenen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Ölçülen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Sonuç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Güneş yüksekliği düzeltmesi SPARCS açığını açıklar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ROC-AUC yükselir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0.9733 → 0.9732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Çürüdü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Kısmi indirme yapısal kaybı kurtarır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Kayıp büyük ölçüde geri alınır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%8.13 → %4.00, kazanç −13.5 puan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Elverişsiz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mobilenetv2_050 daha iyi bir ödünleşim sunar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Disk 2.6× küçük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INT8 kaybı %3.56 → %13.54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C3E50"/>
                          </a:solidFill>
                          <a:latin typeface="Calibri"/>
                        </a:rPr>
                        <a:t>Elendi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493776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B2545"/>
                </a:solidFill>
                <a:latin typeface="Calibri"/>
              </a:rPr>
              <a:t>Kısmi indirmenin maliyeti metadata değil parçalanmadır: bloklar bağımsız sıkıştırıldığında yük %28 büyüyor.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DENEYLER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Ne işe yaradı, ne yaramadı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394960" cy="4023360"/>
          </a:xfrm>
          <a:prstGeom prst="roundRect">
            <a:avLst>
              <a:gd name="adj" fmla="val 4000"/>
            </a:avLst>
          </a:prstGeom>
          <a:solidFill>
            <a:srgbClr val="F1F8F4"/>
          </a:solidFill>
          <a:ln w="12700">
            <a:solidFill>
              <a:srgbClr val="DCE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2C5F2D"/>
                </a:solidFill>
                <a:latin typeface="Cambria"/>
              </a:rPr>
              <a:t>Kazanç sağlayanlar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Hiperparametre taraması — öğrenme oranı varsayılanı optimumun dörtte biriymiş (AUC 0.9813 → 0.9884)</a:t>
            </a:r>
          </a:p>
          <a:p>
            <a:pPr algn="l">
              <a:spcAft>
                <a:spcPts val="11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U-Net encoder'ını küçültmek — hem 2.5 kat küçük hem daha doğru</a:t>
            </a:r>
          </a:p>
          <a:p>
            <a:pPr algn="l">
              <a:spcAft>
                <a:spcPts val="11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Kareleme — bellek %44 az, veri kaybı yarı yarıya</a:t>
            </a:r>
          </a:p>
          <a:p>
            <a:pPr algn="l">
              <a:spcAft>
                <a:spcPts val="11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Eşiği belirsiz bantta seçmek — veri kaybı 25 kat azaldı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394960" cy="4023360"/>
          </a:xfrm>
          <a:prstGeom prst="roundRect">
            <a:avLst>
              <a:gd name="adj" fmla="val 4000"/>
            </a:avLst>
          </a:prstGeom>
          <a:solidFill>
            <a:srgbClr val="FBF3F2"/>
          </a:solidFill>
          <a:ln w="12700">
            <a:solidFill>
              <a:srgbClr val="F0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5042"/>
                </a:solidFill>
                <a:latin typeface="Cambria"/>
              </a:rPr>
              <a:t>Sağlamayanlar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395728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Bant sayısını artırmak — 6 &gt; 9 &gt; 13, tekdüze kötüleşti</a:t>
            </a:r>
          </a:p>
          <a:p>
            <a:pPr algn="l">
              <a:spcAft>
                <a:spcPts val="11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Bilgi damıtma — öğretmen öğrenciden zayıf çıktı</a:t>
            </a:r>
          </a:p>
          <a:p>
            <a:pPr algn="l">
              <a:spcAft>
                <a:spcPts val="11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Şekil öznitelikleri (kontur doluluğu) — dört ayrı yapılandırmada sıfır katkı</a:t>
            </a:r>
          </a:p>
          <a:p>
            <a:pPr algn="l">
              <a:spcAft>
                <a:spcPts val="1100"/>
              </a:spcAft>
            </a:pPr>
            <a:r>
              <a:rPr sz="1200" b="0" i="0">
                <a:solidFill>
                  <a:srgbClr val="2C3E50"/>
                </a:solidFill>
                <a:latin typeface="Calibri"/>
              </a:rPr>
              <a:t>• Sınıflandırıcıda ince kareleme — farklı sensöre hiç genellemedi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GELIŞTIRME SÜRECI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Sürüm matrisi: hangi ölçütte hangisi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276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5A6B7D"/>
                </a:solidFill>
                <a:latin typeface="Calibri"/>
              </a:rPr>
              <a:t>Beş sürüm dondurularak saklandı. Sınıflandırıcı v2'den itibaren değişmedi; aşağıdaki farklar U-Net tarafındadır.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4884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325880"/>
                <a:gridCol w="1508760"/>
                <a:gridCol w="1234440"/>
                <a:gridCol w="1600200"/>
                <a:gridCol w="1325880"/>
                <a:gridCol w="1508760"/>
                <a:gridCol w="1508760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Sürüm</a:t>
                      </a:r>
                    </a:p>
                  </a:txBody>
                  <a:tcPr anchor="ctr" marL="73152" marR="4572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Kare</a:t>
                      </a:r>
                    </a:p>
                  </a:txBody>
                  <a:tcPr anchor="ctr" marL="73152" marR="4572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Encoder</a:t>
                      </a:r>
                    </a:p>
                  </a:txBody>
                  <a:tcPr anchor="ctr" marL="73152" marR="4572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IoU</a:t>
                      </a:r>
                    </a:p>
                  </a:txBody>
                  <a:tcPr anchor="ctr" marL="73152" marR="4572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Bellek</a:t>
                      </a:r>
                    </a:p>
                  </a:txBody>
                  <a:tcPr anchor="ctr" marL="73152" marR="4572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ms/sahne</a:t>
                      </a:r>
                    </a:p>
                  </a:txBody>
                  <a:tcPr anchor="ctr" marL="73152" marR="4572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anchor="ctr" marL="73152" marR="4572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Veri kaybı</a:t>
                      </a:r>
                    </a:p>
                  </a:txBody>
                  <a:tcPr anchor="ctr" marL="73152" marR="45720">
                    <a:solidFill>
                      <a:srgbClr val="0B254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v1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256×256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mnv2_100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0.8663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27.27 MB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v2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256×256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mnv2_050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0.8855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26.69 MB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0.9264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%16.17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v3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256×256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mnv2_050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0.8844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26.47 MB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0.9531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%16.17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v3.1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128×128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mnv2_050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0.8824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17.82 MB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138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0.9442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C3E50"/>
                          </a:solidFill>
                          <a:latin typeface="Calibri"/>
                        </a:rPr>
                        <a:t>%13.78</a:t>
                      </a:r>
                    </a:p>
                  </a:txBody>
                  <a:tcPr anchor="ctr" marL="73152" marR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v3.2</a:t>
                      </a:r>
                    </a:p>
                  </a:txBody>
                  <a:tcPr anchor="ctr" marL="73152" marR="45720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64×64</a:t>
                      </a:r>
                    </a:p>
                  </a:txBody>
                  <a:tcPr anchor="ctr" marL="73152" marR="45720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mnv2_050</a:t>
                      </a:r>
                    </a:p>
                  </a:txBody>
                  <a:tcPr anchor="ctr" marL="73152" marR="45720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0.8807</a:t>
                      </a:r>
                    </a:p>
                  </a:txBody>
                  <a:tcPr anchor="ctr" marL="73152" marR="45720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14.87 MB</a:t>
                      </a:r>
                    </a:p>
                  </a:txBody>
                  <a:tcPr anchor="ctr" marL="73152" marR="45720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175</a:t>
                      </a:r>
                    </a:p>
                  </a:txBody>
                  <a:tcPr anchor="ctr" marL="73152" marR="45720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0.9771</a:t>
                      </a:r>
                    </a:p>
                  </a:txBody>
                  <a:tcPr anchor="ctr" marL="73152" marR="45720"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B2545"/>
                          </a:solidFill>
                          <a:latin typeface="Calibri"/>
                        </a:rPr>
                        <a:t>%8.13</a:t>
                      </a:r>
                    </a:p>
                  </a:txBody>
                  <a:tcPr anchor="ctr" marL="73152" marR="45720"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6177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Ölçüt bazında en iyiler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1737360" cy="8686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51480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B2545"/>
                </a:solidFill>
                <a:latin typeface="Cambria"/>
              </a:rPr>
              <a:t>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en yüksek IoU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5029200"/>
            <a:ext cx="1737360" cy="8686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04872" y="51480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B2545"/>
                </a:solidFill>
                <a:latin typeface="Cambria"/>
              </a:rPr>
              <a:t>v3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54864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en kısa süre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3" y="5029200"/>
            <a:ext cx="1737360" cy="868680"/>
          </a:xfrm>
          <a:prstGeom prst="roundRect">
            <a:avLst>
              <a:gd name="adj" fmla="val 4000"/>
            </a:avLst>
          </a:prstGeom>
          <a:solidFill>
            <a:srgbClr val="F4F7FB"/>
          </a:solidFill>
          <a:ln w="12700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261103" y="51480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B2545"/>
                </a:solidFill>
                <a:latin typeface="Cambria"/>
              </a:rPr>
              <a:t>v3.1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3" y="54864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en dengeli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7336" y="5029200"/>
            <a:ext cx="1737360" cy="868680"/>
          </a:xfrm>
          <a:prstGeom prst="roundRect">
            <a:avLst>
              <a:gd name="adj" fmla="val 4000"/>
            </a:avLst>
          </a:prstGeom>
          <a:solidFill>
            <a:srgbClr val="E8F1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117336" y="51480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C7293"/>
                </a:solidFill>
                <a:latin typeface="Cambria"/>
              </a:rPr>
              <a:t>v3.2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54864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en az bellek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3567" y="5029200"/>
            <a:ext cx="1737360" cy="868680"/>
          </a:xfrm>
          <a:prstGeom prst="roundRect">
            <a:avLst>
              <a:gd name="adj" fmla="val 4000"/>
            </a:avLst>
          </a:prstGeom>
          <a:solidFill>
            <a:srgbClr val="E8F1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973567" y="51480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C7293"/>
                </a:solidFill>
                <a:latin typeface="Cambria"/>
              </a:rPr>
              <a:t>v3.2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7" y="54864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en yüksek precision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799" y="5029200"/>
            <a:ext cx="1737360" cy="868680"/>
          </a:xfrm>
          <a:prstGeom prst="roundRect">
            <a:avLst>
              <a:gd name="adj" fmla="val 4000"/>
            </a:avLst>
          </a:prstGeom>
          <a:solidFill>
            <a:srgbClr val="E8F1F8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829799" y="514807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C7293"/>
                </a:solidFill>
                <a:latin typeface="Cambria"/>
              </a:rPr>
              <a:t>v3.2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799" y="54864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7D"/>
                </a:solidFill>
                <a:latin typeface="Calibri"/>
              </a:rPr>
              <a:t>en az veri kaybı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0B2545"/>
                </a:solidFill>
                <a:latin typeface="Calibri"/>
              </a:rPr>
              <a:t>Dağıtılan sürüm v3.2: süre bütçesi bol olduğu için (referans misyonun yarısı) fazla süre, belleğe ve bilimsel veri korumasına çevrildi.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3291840"/>
            <a:ext cx="5852160" cy="5852160"/>
          </a:xfrm>
          <a:prstGeom prst="ellipse">
            <a:avLst/>
          </a:prstGeom>
          <a:solidFill>
            <a:srgbClr val="133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Uydu üzerinde çalışabilecek bir bulut filtresi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57400"/>
            <a:ext cx="2560320" cy="1417320"/>
          </a:xfrm>
          <a:prstGeom prst="roundRect">
            <a:avLst>
              <a:gd name="adj" fmla="val 4000"/>
            </a:avLst>
          </a:prstGeom>
          <a:solidFill>
            <a:srgbClr val="13315C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F5A623"/>
                </a:solidFill>
                <a:latin typeface="Cambria"/>
              </a:rPr>
              <a:t>0.96 – 2.59 MB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07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D6E4F0"/>
                </a:solidFill>
                <a:latin typeface="Calibri"/>
              </a:rPr>
              <a:t>iki model, INT8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2057400"/>
            <a:ext cx="2560320" cy="1417320"/>
          </a:xfrm>
          <a:prstGeom prst="roundRect">
            <a:avLst>
              <a:gd name="adj" fmla="val 4000"/>
            </a:avLst>
          </a:prstGeom>
          <a:solidFill>
            <a:srgbClr val="13315C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20439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F5A623"/>
                </a:solidFill>
                <a:latin typeface="Cambria"/>
              </a:rPr>
              <a:t>0.69 – 5.76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39" y="2907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D6E4F0"/>
                </a:solidFill>
                <a:latin typeface="Calibri"/>
              </a:rPr>
              <a:t>kare başına, CPU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057400"/>
            <a:ext cx="2560320" cy="1417320"/>
          </a:xfrm>
          <a:prstGeom prst="roundRect">
            <a:avLst>
              <a:gd name="adj" fmla="val 4000"/>
            </a:avLst>
          </a:prstGeom>
          <a:solidFill>
            <a:srgbClr val="13315C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59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F5A623"/>
                </a:solidFill>
                <a:latin typeface="Cambria"/>
              </a:rPr>
              <a:t>%48.65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907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D6E4F0"/>
                </a:solidFill>
                <a:latin typeface="Calibri"/>
              </a:rPr>
              <a:t>veri tasarrufu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2057400"/>
            <a:ext cx="2560320" cy="1417320"/>
          </a:xfrm>
          <a:prstGeom prst="roundRect">
            <a:avLst>
              <a:gd name="adj" fmla="val 4000"/>
            </a:avLst>
          </a:prstGeom>
          <a:solidFill>
            <a:srgbClr val="13315C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98280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F5A623"/>
                </a:solidFill>
                <a:latin typeface="Cambria"/>
              </a:rPr>
              <a:t>%0.475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907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D6E4F0"/>
                </a:solidFill>
                <a:latin typeface="Calibri"/>
              </a:rPr>
              <a:t>veri kaybı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mbria"/>
              </a:rPr>
              <a:t>Gelecek çalışma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70832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• Gömülü çıkarım motoru — belleğin %72'si çalışma zamanı yükü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• Kar/buz ayrımı için hedefli veri artırımı veya kayıp ağırlığı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• Kısmi indirme için bölge-ilgi kodlaması (blok tabanlı yöntem elendi)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D6E4F0"/>
                </a:solidFill>
                <a:latin typeface="Calibri"/>
              </a:rPr>
              <a:t>• Kuantizasyon-farkında eğitim (QAT) ve çok tohumlu doğrulama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